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classic 0/1 Knapsack problem: pick whole items to maximize value under a weight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rule: no fractions. This is what separates 0/1 knapsack from the fractional version, which greedy can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3 / 1 2 3 / 4 5 1 / 4. Expected output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 only works when fractions are allowed. For 0/1, it can lock in a bad early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One-dimensional DP: we compress the 2D table to a single row. Going backwards prevents reusing the same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solution from the editor: one dp array, backward capacity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cells changed in that step. Item 2 has weight 5 &gt; W=4, so the inner loop never runs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time O(N*W), space O(W). Mention the unbounded knapsack uses a forward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5852160" y="-822960"/>
            <a:ext cx="4572000" cy="4572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463040" y="3566160"/>
            <a:ext cx="3108960" cy="3108960"/>
          </a:xfrm>
          <a:prstGeom prst="ellipse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DYNAMIC PROGRAMMING  ·  C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234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0/1 Knapsack Problem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Choose items to get the maximum value without exceeding capacity</a:t>
            </a:r>
            <a:endParaRPr lang="en-US" sz="1800" dirty="0"/>
          </a:p>
        </p:txBody>
      </p:sp>
      <p:sp>
        <p:nvSpPr>
          <p:cNvPr id="7" name="!!item1"/>
          <p:cNvSpPr/>
          <p:nvPr/>
        </p:nvSpPr>
        <p:spPr>
          <a:xfrm>
            <a:off x="6309360" y="777240"/>
            <a:ext cx="22860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!!item1txt"/>
          <p:cNvSpPr txBox="1"/>
          <p:nvPr/>
        </p:nvSpPr>
        <p:spPr>
          <a:xfrm>
            <a:off x="6446520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1  ·  weight 4</a:t>
            </a:r>
            <a:endParaRPr lang="en-US" sz="1600" dirty="0"/>
          </a:p>
        </p:txBody>
      </p:sp>
      <p:sp>
        <p:nvSpPr>
          <p:cNvPr id="9" name="!!item2"/>
          <p:cNvSpPr/>
          <p:nvPr/>
        </p:nvSpPr>
        <p:spPr>
          <a:xfrm>
            <a:off x="6309360" y="1737360"/>
            <a:ext cx="22860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!!item2txt"/>
          <p:cNvSpPr txBox="1"/>
          <p:nvPr/>
        </p:nvSpPr>
        <p:spPr>
          <a:xfrm>
            <a:off x="6446520" y="1737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2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2  ·  weight 5</a:t>
            </a:r>
            <a:endParaRPr lang="en-US" sz="1600" dirty="0"/>
          </a:p>
        </p:txBody>
      </p:sp>
      <p:sp>
        <p:nvSpPr>
          <p:cNvPr id="11" name="!!item3"/>
          <p:cNvSpPr/>
          <p:nvPr/>
        </p:nvSpPr>
        <p:spPr>
          <a:xfrm>
            <a:off x="6309360" y="2697480"/>
            <a:ext cx="22860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!!item3txt"/>
          <p:cNvSpPr txBox="1"/>
          <p:nvPr/>
        </p:nvSpPr>
        <p:spPr>
          <a:xfrm>
            <a:off x="6446520" y="2697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3  ·  weight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6949440" y="-1280160"/>
            <a:ext cx="3291840" cy="329184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097280" y="3566160"/>
            <a:ext cx="2560320" cy="25603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5" name="rule0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280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Given N items, each with a value and a weight</a:t>
            </a:r>
            <a:endParaRPr lang="en-US" sz="1800" dirty="0"/>
          </a:p>
        </p:txBody>
      </p:sp>
      <p:sp>
        <p:nvSpPr>
          <p:cNvPr id="8" name="rule1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48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knapsack can carry total weight up to W</a:t>
            </a:r>
            <a:endParaRPr lang="en-US" sz="1800" dirty="0"/>
          </a:p>
        </p:txBody>
      </p:sp>
      <p:sp>
        <p:nvSpPr>
          <p:cNvPr id="11" name="rule2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017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Each item is taken whole or left out: 0 or 1</a:t>
            </a:r>
            <a:endParaRPr lang="en-US" sz="1800" dirty="0"/>
          </a:p>
        </p:txBody>
      </p:sp>
      <p:sp>
        <p:nvSpPr>
          <p:cNvPr id="14" name="rule3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8862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Goal: maximize the total value carried</a:t>
            </a:r>
            <a:endParaRPr lang="en-US" sz="1800" dirty="0"/>
          </a:p>
        </p:txBody>
      </p:sp>
      <p:sp>
        <p:nvSpPr>
          <p:cNvPr id="17" name="!!item1"/>
          <p:cNvSpPr/>
          <p:nvPr/>
        </p:nvSpPr>
        <p:spPr>
          <a:xfrm>
            <a:off x="6309360" y="1371600"/>
            <a:ext cx="2286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!!item1txt"/>
          <p:cNvSpPr txBox="1"/>
          <p:nvPr/>
        </p:nvSpPr>
        <p:spPr>
          <a:xfrm>
            <a:off x="6446520" y="1371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1  ·  weight 4</a:t>
            </a:r>
            <a:endParaRPr lang="en-US" sz="1600" dirty="0"/>
          </a:p>
        </p:txBody>
      </p:sp>
      <p:sp>
        <p:nvSpPr>
          <p:cNvPr id="19" name="!!item2"/>
          <p:cNvSpPr/>
          <p:nvPr/>
        </p:nvSpPr>
        <p:spPr>
          <a:xfrm>
            <a:off x="6309360" y="2468880"/>
            <a:ext cx="2286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!!item2txt"/>
          <p:cNvSpPr txBox="1"/>
          <p:nvPr/>
        </p:nvSpPr>
        <p:spPr>
          <a:xfrm>
            <a:off x="6446520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2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2  ·  weight 5</a:t>
            </a:r>
            <a:endParaRPr lang="en-US" sz="1600" dirty="0"/>
          </a:p>
        </p:txBody>
      </p:sp>
      <p:sp>
        <p:nvSpPr>
          <p:cNvPr id="21" name="!!item3"/>
          <p:cNvSpPr/>
          <p:nvPr/>
        </p:nvSpPr>
        <p:spPr>
          <a:xfrm>
            <a:off x="6309360" y="3566160"/>
            <a:ext cx="2286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!!item3txt"/>
          <p:cNvSpPr txBox="1"/>
          <p:nvPr/>
        </p:nvSpPr>
        <p:spPr>
          <a:xfrm>
            <a:off x="6446520" y="35661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3  ·  weight 1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-1371600" y="-1645920"/>
            <a:ext cx="3291840" cy="329184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6766560" y="3108960"/>
            <a:ext cx="3474720" cy="34747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Walking through the sample</a:t>
            </a:r>
            <a:endParaRPr lang="en-US" sz="3600" dirty="0"/>
          </a:p>
        </p:txBody>
      </p:sp>
      <p:sp>
        <p:nvSpPr>
          <p:cNvPr id="5" name="!!item1"/>
          <p:cNvSpPr/>
          <p:nvPr/>
        </p:nvSpPr>
        <p:spPr>
          <a:xfrm>
            <a:off x="548640" y="1371600"/>
            <a:ext cx="251460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!!item1txt"/>
          <p:cNvSpPr txBox="1"/>
          <p:nvPr/>
        </p:nvSpPr>
        <p:spPr>
          <a:xfrm>
            <a:off x="68580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Item 1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value 1  ·  weight 4</a:t>
            </a:r>
            <a:endParaRPr lang="en-US" sz="2000" dirty="0"/>
          </a:p>
        </p:txBody>
      </p:sp>
      <p:sp>
        <p:nvSpPr>
          <p:cNvPr id="7" name="!!item2"/>
          <p:cNvSpPr/>
          <p:nvPr/>
        </p:nvSpPr>
        <p:spPr>
          <a:xfrm>
            <a:off x="3337560" y="1371600"/>
            <a:ext cx="251460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!!item2txt"/>
          <p:cNvSpPr txBox="1"/>
          <p:nvPr/>
        </p:nvSpPr>
        <p:spPr>
          <a:xfrm>
            <a:off x="347472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Item 2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value 2  ·  weight 5</a:t>
            </a:r>
            <a:endParaRPr lang="en-US" sz="2000" dirty="0"/>
          </a:p>
        </p:txBody>
      </p:sp>
      <p:sp>
        <p:nvSpPr>
          <p:cNvPr id="9" name="!!item3"/>
          <p:cNvSpPr/>
          <p:nvPr/>
        </p:nvSpPr>
        <p:spPr>
          <a:xfrm>
            <a:off x="6126480" y="1371600"/>
            <a:ext cx="251460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rgbClr val="D4880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!!item3txt"/>
          <p:cNvSpPr txBox="1"/>
          <p:nvPr/>
        </p:nvSpPr>
        <p:spPr>
          <a:xfrm>
            <a:off x="626364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Item 3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value 3  ·  weight 1</a:t>
            </a:r>
            <a:endParaRPr lang="en-US" sz="2000" dirty="0"/>
          </a:p>
        </p:txBody>
      </p:sp>
      <p:sp>
        <p:nvSpPr>
          <p:cNvPr id="11" name="capacityBadge"/>
          <p:cNvSpPr/>
          <p:nvPr/>
        </p:nvSpPr>
        <p:spPr>
          <a:xfrm>
            <a:off x="548640" y="31546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54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W = 4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capacity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1546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Item 2 weighs 5, so it never fits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Items 1 + 3 weigh 5, which is over the limit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Best choice: Item 3 alone, value 3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4023360" y="-2011680"/>
            <a:ext cx="4114800" cy="411480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371600" y="3291840"/>
            <a:ext cx="2926080" cy="292608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not the easy way?</a:t>
            </a:r>
            <a:endParaRPr lang="en-US" sz="3600" dirty="0"/>
          </a:p>
        </p:txBody>
      </p:sp>
      <p:sp>
        <p:nvSpPr>
          <p:cNvPr id="5" name="cardBrute"/>
          <p:cNvSpPr/>
          <p:nvPr/>
        </p:nvSpPr>
        <p:spPr>
          <a:xfrm>
            <a:off x="548640" y="1325880"/>
            <a:ext cx="393192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Brute force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74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2^N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Try every subset of items. With N up to 1000, that is far too many to check.</a:t>
            </a:r>
            <a:endParaRPr lang="en-US" sz="1600" dirty="0"/>
          </a:p>
        </p:txBody>
      </p:sp>
      <p:sp>
        <p:nvSpPr>
          <p:cNvPr id="9" name="cardGreedy"/>
          <p:cNvSpPr/>
          <p:nvPr/>
        </p:nvSpPr>
        <p:spPr>
          <a:xfrm>
            <a:off x="4663440" y="1325880"/>
            <a:ext cx="393192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Greedy by value/weight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920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v 11, w 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v 6, w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v 6, w 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1089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Greedy takes A and stops at 11.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Best is B + C = 12.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We need dynamic programming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280160" y="-1280160"/>
            <a:ext cx="2743200" cy="2743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DP idea</a:t>
            </a:r>
            <a:endParaRPr lang="en-US" sz="3600" dirty="0"/>
          </a:p>
        </p:txBody>
      </p:sp>
      <p:sp>
        <p:nvSpPr>
          <p:cNvPr id="5" name="cardState"/>
          <p:cNvSpPr/>
          <p:nvPr/>
        </p:nvSpPr>
        <p:spPr>
          <a:xfrm>
            <a:off x="548640" y="132588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State: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dp[w] = best value achievable with capacity w</a:t>
            </a:r>
            <a:endParaRPr lang="en-US" sz="1800" dirty="0"/>
          </a:p>
        </p:txBody>
      </p:sp>
      <p:sp>
        <p:nvSpPr>
          <p:cNvPr id="7" name="cardRecurrence"/>
          <p:cNvSpPr/>
          <p:nvPr/>
        </p:nvSpPr>
        <p:spPr>
          <a:xfrm>
            <a:off x="548640" y="2377440"/>
            <a:ext cx="8046720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77440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dp[w] = max( dp[w] ,  dp[w - weight] + value )</a:t>
            </a:r>
            <a:endParaRPr lang="en-US" sz="2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the item            take the item</a:t>
            </a:r>
            <a:endParaRPr lang="en-US" sz="2000" dirty="0"/>
          </a:p>
        </p:txBody>
      </p:sp>
      <p:sp>
        <p:nvSpPr>
          <p:cNvPr id="9" name="noteDot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!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611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Loop w from W down to weight[i]. Updating big capacities first means each item is counted at most once.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7315200" y="-1371600"/>
            <a:ext cx="3108960" cy="310896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3200400" y="3840480"/>
            <a:ext cx="2926080" cy="292608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 solution</a:t>
            </a:r>
            <a:endParaRPr lang="en-US" sz="3600" dirty="0"/>
          </a:p>
        </p:txBody>
      </p:sp>
      <p:sp>
        <p:nvSpPr>
          <p:cNvPr id="5" name="cardCode"/>
          <p:cNvSpPr/>
          <p:nvPr/>
        </p:nvSpPr>
        <p:spPr>
          <a:xfrm>
            <a:off x="548640" y="132588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3258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dp[1005] = {0};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w = W; w &gt;= weights[i]; w--) {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dp[w] = max(dp[w],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dp[w - weights[i]] + values[i]);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dp[W]);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Read N, values, weights and W with scanf, then run the loops above.</a:t>
            </a:r>
            <a:endParaRPr lang="en-US" sz="1400" dirty="0"/>
          </a:p>
        </p:txBody>
      </p:sp>
      <p:sp>
        <p:nvSpPr>
          <p:cNvPr id="8" name="step0"/>
          <p:cNvSpPr/>
          <p:nvPr/>
        </p:nvSpPr>
        <p:spPr>
          <a:xfrm>
            <a:off x="63550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3258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Outer loop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item at a time</a:t>
            </a:r>
            <a:endParaRPr lang="en-US" sz="1400" dirty="0"/>
          </a:p>
        </p:txBody>
      </p:sp>
      <p:sp>
        <p:nvSpPr>
          <p:cNvPr id="11" name="step1"/>
          <p:cNvSpPr/>
          <p:nvPr/>
        </p:nvSpPr>
        <p:spPr>
          <a:xfrm>
            <a:off x="6355080" y="23774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331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Inner loop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capacity goes downward</a:t>
            </a:r>
            <a:endParaRPr lang="en-US" sz="1400" dirty="0"/>
          </a:p>
        </p:txBody>
      </p:sp>
      <p:sp>
        <p:nvSpPr>
          <p:cNvPr id="14" name="step2"/>
          <p:cNvSpPr/>
          <p:nvPr/>
        </p:nvSpPr>
        <p:spPr>
          <a:xfrm>
            <a:off x="6355080" y="33832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3375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sits in dp[W]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-1645920" y="3200400"/>
            <a:ext cx="3291840" cy="329184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7498080" y="-1097280"/>
            <a:ext cx="2743200" cy="2743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Dry run on the sample</a:t>
            </a:r>
            <a:endParaRPr lang="en-US" sz="3600" dirty="0"/>
          </a:p>
        </p:txBody>
      </p:sp>
      <p:sp>
        <p:nvSpPr>
          <p:cNvPr id="5" name="!!item1"/>
          <p:cNvSpPr/>
          <p:nvPr/>
        </p:nvSpPr>
        <p:spPr>
          <a:xfrm>
            <a:off x="548640" y="1188720"/>
            <a:ext cx="251460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!!item1txt"/>
          <p:cNvSpPr txBox="1"/>
          <p:nvPr/>
        </p:nvSpPr>
        <p:spPr>
          <a:xfrm>
            <a:off x="685800" y="1188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Item 1  ·  v 1  ·  w 4</a:t>
            </a:r>
            <a:endParaRPr lang="en-US" sz="1400" dirty="0"/>
          </a:p>
        </p:txBody>
      </p:sp>
      <p:sp>
        <p:nvSpPr>
          <p:cNvPr id="7" name="!!item2"/>
          <p:cNvSpPr/>
          <p:nvPr/>
        </p:nvSpPr>
        <p:spPr>
          <a:xfrm>
            <a:off x="3337560" y="1188720"/>
            <a:ext cx="251460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!!item2txt"/>
          <p:cNvSpPr txBox="1"/>
          <p:nvPr/>
        </p:nvSpPr>
        <p:spPr>
          <a:xfrm>
            <a:off x="3474720" y="1188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Item 2  ·  v 2  ·  w 5</a:t>
            </a:r>
            <a:endParaRPr lang="en-US" sz="1400" dirty="0"/>
          </a:p>
        </p:txBody>
      </p:sp>
      <p:sp>
        <p:nvSpPr>
          <p:cNvPr id="9" name="!!item3"/>
          <p:cNvSpPr/>
          <p:nvPr/>
        </p:nvSpPr>
        <p:spPr>
          <a:xfrm>
            <a:off x="6126480" y="1188720"/>
            <a:ext cx="251460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rgbClr val="D4880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!!item3txt"/>
          <p:cNvSpPr txBox="1"/>
          <p:nvPr/>
        </p:nvSpPr>
        <p:spPr>
          <a:xfrm>
            <a:off x="6263640" y="1188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Item 3  ·  v 3  ·  w 1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33856"/>
                <a:gridCol w="1133856"/>
                <a:gridCol w="1133856"/>
                <a:gridCol w="1133856"/>
                <a:gridCol w="113385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dp[0]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dp[1]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dp[2]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dp[3]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dp[4]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After item 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After item 2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After item 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Answer: dp[4] = 3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  Item 2 is skipped because its weight 5 exceeds 4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6217920" y="2377440"/>
            <a:ext cx="4572000" cy="457200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371600" y="-1371600"/>
            <a:ext cx="2926080" cy="2926080"/>
          </a:xfrm>
          <a:prstGeom prst="ellipse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5" name="stat0"/>
          <p:cNvSpPr/>
          <p:nvPr/>
        </p:nvSpPr>
        <p:spPr>
          <a:xfrm>
            <a:off x="5486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O(N·W)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time</a:t>
            </a:r>
            <a:endParaRPr lang="en-US" sz="3600" dirty="0"/>
          </a:p>
        </p:txBody>
      </p:sp>
      <p:sp>
        <p:nvSpPr>
          <p:cNvPr id="7" name="stat1"/>
          <p:cNvSpPr/>
          <p:nvPr/>
        </p:nvSpPr>
        <p:spPr>
          <a:xfrm>
            <a:off x="32918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25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O(W)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extra space</a:t>
            </a:r>
            <a:endParaRPr lang="en-US" sz="3600" dirty="0"/>
          </a:p>
        </p:txBody>
      </p:sp>
      <p:sp>
        <p:nvSpPr>
          <p:cNvPr id="9" name="stat2"/>
          <p:cNvSpPr/>
          <p:nvPr/>
        </p:nvSpPr>
        <p:spPr>
          <a:xfrm>
            <a:off x="60350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325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10^6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max steps (N, W ≤ 1000)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Each item is taken whole or not at all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dp[w] stores the best value for capacity 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Looping capacity downward keeps it 0/1; upward would allow repeats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napsack">
  <a:themeElements>
    <a:clrScheme name="Knapsack">
      <a:dk1>
        <a:srgbClr val="0B1F33"/>
      </a:dk1>
      <a:lt1>
        <a:srgbClr val="FFFFFF"/>
      </a:lt1>
      <a:dk2>
        <a:srgbClr val="12344D"/>
      </a:dk2>
      <a:lt2>
        <a:srgbClr val="F3F8FA"/>
      </a:lt2>
      <a:accent1>
        <a:srgbClr val="F5A623"/>
      </a:accent1>
      <a:accent2>
        <a:srgbClr val="1FA9A0"/>
      </a:accent2>
      <a:accent3>
        <a:srgbClr val="E4572E"/>
      </a:accent3>
      <a:accent4>
        <a:srgbClr val="5B8DB8"/>
      </a:accent4>
      <a:accent5>
        <a:srgbClr val="8FD3C8"/>
      </a:accent5>
      <a:accent6>
        <a:srgbClr val="6B7A8F"/>
      </a:accent6>
      <a:hlink>
        <a:srgbClr val="1FA9A0"/>
      </a:hlink>
      <a:folHlink>
        <a:srgbClr val="6B7A8F"/>
      </a:folHlink>
    </a:clrScheme>
    <a:fontScheme name="Knaps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0/1 Knapsack Problem</dc:title>
  <dc:subject>PptxGenJS Presentation</dc:subject>
  <dc:creator>PptxGenJS</dc:creator>
  <cp:lastModifiedBy>PptxGenJS</cp:lastModifiedBy>
  <cp:revision>1</cp:revision>
  <dcterms:created xsi:type="dcterms:W3CDTF">2026-10-15T06:46:05Z</dcterms:created>
  <dcterms:modified xsi:type="dcterms:W3CDTF">2026-10-15T06:46:05Z</dcterms:modified>
</cp:coreProperties>
</file>